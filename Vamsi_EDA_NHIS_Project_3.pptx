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47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EDA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Exploratory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Notebook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0" y="1691640"/>
            <a:ext cx="9144000" cy="2743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Analysed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9748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9748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Sections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874520"/>
            <a:ext cx="1920240" cy="914400"/>
          </a:xfrm>
          <a:prstGeom prst="rect">
            <a:avLst/>
          </a:prstGeom>
          <a:solidFill>
            <a:srgbClr val="1B2A3B"/>
          </a:solidFill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95160" y="19385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5,970+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99516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2971800"/>
            <a:ext cx="9144000" cy="137160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3090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Retail Large Dataset (retail_large_dataset.csv)   |   Tool: Python 3.12 · Jupyter · VS Code   |   Programme: NHIS Internship Project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56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Dr. Vamsi Krishna Kopparaju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Python Programming Course  |  March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Vamsi_EDA_NHIS_Project_3  |  Confidential — NHIS Internship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all 21 EDA sections — from setup to strategic recommendations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57200" cy="71323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490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830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rows · 18 columns · retail transactions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57200" cy="7132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246888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Feature Engineering · Quality Audit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57200" cy="71323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3375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227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20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· Correlations · Group comparisons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457200" cy="7132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84048" y="420624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· Correlations · Monthly Trends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41732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54880" y="1417320"/>
            <a:ext cx="457200" cy="71323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73168" y="160020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03520" y="14904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Insights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178308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3-variable interaction heatmaps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2286000"/>
            <a:ext cx="457200" cy="713232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73168" y="246888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23591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business performance metrics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315468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754880" y="3154680"/>
            <a:ext cx="457200" cy="71323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73168" y="333756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03520" y="32278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Insights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3520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data-backed business statements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4023360"/>
            <a:ext cx="4160520" cy="713232"/>
          </a:xfrm>
          <a:prstGeom prst="rect">
            <a:avLst/>
          </a:prstGeom>
          <a:solidFill>
            <a:srgbClr val="1B2A3B"/>
          </a:solidFill>
          <a:ln w="1524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754880" y="4023360"/>
            <a:ext cx="457200" cy="713232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73168" y="4206240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40965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438912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stakeholder report · Roadmap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Vamsi_EDA_NHIS_Project_3  |  NHIS Internship Programme  |  March 2026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63746"/>
            <a:ext cx="182880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63746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5524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Large Dataset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9805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transactions · 18 columns · Customer · Order · Financial · Fulfilment domains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09538"/>
            <a:ext cx="1965960" cy="29260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02146"/>
            <a:ext cx="1965960" cy="2221992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84048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717714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065186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41265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41448" y="1309538"/>
            <a:ext cx="1965960" cy="292608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87168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41448" y="1602146"/>
            <a:ext cx="196596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51176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51176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51176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51176" y="2717714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product_subcategory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51176" y="3065186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1309538"/>
            <a:ext cx="1965960" cy="29260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54296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1602146"/>
            <a:ext cx="1965960" cy="1527048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18304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product_price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18304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discount_percentage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18304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discount_amount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18304" y="2717714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75704" y="1309538"/>
            <a:ext cx="1965960" cy="29260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21424" y="132782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75704" y="1602146"/>
            <a:ext cx="1965960" cy="1179576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885432" y="1675298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85432" y="2022770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85432" y="2370242"/>
            <a:ext cx="1746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return_status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84048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2441448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551176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51176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4608576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718304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18304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6775704" y="3869858"/>
            <a:ext cx="1965960" cy="868680"/>
          </a:xfrm>
          <a:prstGeom prst="rect">
            <a:avLst/>
          </a:prstGeom>
          <a:solidFill>
            <a:srgbClr val="1B2A3B"/>
          </a:solidFill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885432" y="3961298"/>
            <a:ext cx="17465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85432" y="4144178"/>
            <a:ext cx="17465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5.69 MB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365760" y="478825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2–3: Load Data · Dataset Audit  |  Vamsi_EDA_NHIS_Project_3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749940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Engineering · Quality Audit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4–8: Building a structurally sound, analysis-ready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34747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Basic Data Cleaning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order_date to datetime64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full duplicate rows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Coerce numeric columns to correct dtypes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source columns — non-destructive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34747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18888" y="146304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Feature Engineering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182880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year, month, quarter, day_name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final_price (if missing)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Demographic: age_group (5 bins)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discount_bin (5 bands)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114800" cy="34747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320040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Quality Summary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356616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audit — missing % per column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Cardinality: Binary · Moderate · High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flags via IQR fences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score: Excellent / Acceptable / Poor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4114800" cy="160020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3154680"/>
            <a:ext cx="4114800" cy="34747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18888" y="320040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Column Classification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18888" y="3566160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num_cols: int64 + float64 columns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cat_cols: object + category + bool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datetime_cols: datetime64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columns excluded from analysis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4–8: Data Preparation Pipeline  |  Vamsi_EDA_NHIS_Project_3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8: Numerical Column Profiling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statistics computed per column — central tendency, spread, shape, and outlier indicators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(n)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observations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32888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(μ)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2888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average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00016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(Q2)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0016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central value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75704" y="14173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67144" y="14904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(σ)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67144" y="18288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around mean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(Q3−Q1)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fence basis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41448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32888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32888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dispersion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0016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(γ₁)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016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asymmetry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75704" y="2331720"/>
            <a:ext cx="196596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67144" y="240487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(κ)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67144" y="27432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heaviness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337560"/>
            <a:ext cx="8595360" cy="141732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INTERPRETATION GUIDE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|skew| ≤ 0.5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 —  Safe for parametric tests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9184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|skew| 0.5–1.0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9184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 —  Box plot + log scale advised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3749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|skew| &gt; 1.0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 —  Log transform before modelling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8: Descriptive Statistics  |  12 metrics per numerical column  |  Vamsi_EDA_NHIS_Project_3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9–10: Numerical &amp; Categorical Distributions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examined in isolation — distribution shape, spread, frequency, and cardinality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4114800" cy="324612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32004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 —  Cell 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830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30352" y="18013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shape, skew direction, natural clusters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2402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352" y="22585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Median, IQR, whisker range, individual outliers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6974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0352" y="27157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±1σ Band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0352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deviation overlay on histogram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1546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30352" y="31729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lines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— mean vs median divergence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" y="36118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36301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Annotation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3840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+ Kurt printed on chart — no table lookups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4069080"/>
            <a:ext cx="54864" cy="25603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30352" y="40873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Per-plot footer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4297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interpretation below each figure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1371600"/>
            <a:ext cx="4114800" cy="324612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1371600"/>
            <a:ext cx="4114800" cy="32004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18888" y="138988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 —  Cell 10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18888" y="17830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65192" y="1801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(sorted ↓)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65192" y="2011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categories by frequency — count + 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18888" y="22402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22585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Badge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65192" y="2468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Low / Moderate / High / Very High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18888" y="26974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65192" y="27157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Flag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65192" y="29260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/ Skewed / Dominant classification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18888" y="31546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65192" y="31729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Cap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65192" y="3383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with &gt;15 categories clipped to Top 15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18888" y="36118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65192" y="36301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Table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65192" y="38404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+ Share% + Cumulative% per category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18888" y="4069080"/>
            <a:ext cx="54864" cy="25603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65192" y="4087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Per-plot footer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65192" y="42976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+ interpretation below each figure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9–10: Univariate Analysis  |  Numerical + Categorical  |  Vamsi_EDA_NHIS_Project_3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12–16: Pairwise Relationship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· Correlation Matrices · Monthly Trends · Scatter Regression · Num vs Cat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43906"/>
            <a:ext cx="2624328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343906"/>
            <a:ext cx="2624328" cy="3017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371338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Outlier Analysis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78308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method: Q1−1.5×IQR / Q3+1.5×IQR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method: |Z| &gt; 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flag: both methods agree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Clean · Mild · Moderate · Severe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1343903"/>
            <a:ext cx="2624328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72968" y="1343903"/>
            <a:ext cx="2624328" cy="30175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82696" y="1371335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Correlation Analysis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82696" y="178308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— linear relationships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— rank-based (skew-robust)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|r| &gt; 0.85 flagged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pairs bar chart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310531"/>
            <a:ext cx="2624328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71616" y="1310531"/>
            <a:ext cx="2624328" cy="30175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1344" y="1337963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Monthly Revenue Trend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1783080"/>
            <a:ext cx="24048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line + area fill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rolling average (centred)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+ trough annotations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boundary separators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065922"/>
            <a:ext cx="4114800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052574"/>
            <a:ext cx="4114800" cy="3017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066655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Scatter + Regression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611880"/>
            <a:ext cx="38953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fit line with 95% CI band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+ p-value on chart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classification: Weak/Mod/Strong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pairs summary table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085938"/>
            <a:ext cx="4114800" cy="1664208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3085938"/>
            <a:ext cx="4114800" cy="30175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18888" y="3113370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Num vs Categorical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3611880"/>
            <a:ext cx="38953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— full spread per group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mean ± 95% CI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ANOVA: F-stat + p-value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 annotated on every bar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164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12–16: Bivariate Analysis  |  5 analytical techniques  |  Vamsi_EDA_NHIS_Project_3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12: IQR + Z-Score Dual Method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methods cross-referenced for high-confidence outlier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1920240"/>
          </a:xfrm>
          <a:prstGeom prst="rect">
            <a:avLst/>
          </a:prstGeom>
          <a:solidFill>
            <a:srgbClr val="1B2A3B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3200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 —  Robust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38953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fence = Q1 − 1.5 × IQR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fence = Q3 + 1.5 × IQR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Not affected by the outliers it detects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May over-flag uniform distributions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1920240"/>
          </a:xfrm>
          <a:prstGeom prst="rect">
            <a:avLst/>
          </a:prstGeom>
          <a:solidFill>
            <a:srgbClr val="1B2A3B"/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114800" cy="32004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18888" y="143560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METHOD  —  Intuitive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828800"/>
            <a:ext cx="389534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if |Z| &gt; 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mean) / std_dev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Strength: Direct standard deviation measurement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Sensitive to extreme values in mean/std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3474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flagged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41448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51176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551176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flagged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08576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18304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– 5% flagged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75704" y="3767328"/>
            <a:ext cx="1920240" cy="777240"/>
          </a:xfrm>
          <a:prstGeom prst="rect">
            <a:avLst/>
          </a:prstGeom>
          <a:solidFill>
            <a:srgbClr val="243447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885432" y="382219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85432" y="4133088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5% flagged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pricing columns will always produce IQR outliers — apply domain knowledge before capping or removing.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12: Outlier Analysis  |  IQR + Z-Score + Combined flag  |  Vamsi_EDA_NHIS_Project_3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13: Pearson · Spearman · Multicollinearity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linear and rank-based relationships · Flagging features too similar for joint modelling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3840"/>
            <a:ext cx="411480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 GUIDE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201168" cy="2926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6656" y="1847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 to +1.0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8470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Positive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304288"/>
            <a:ext cx="201168" cy="29260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6656" y="232257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to +0.9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3225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779776"/>
            <a:ext cx="201168" cy="292608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6656" y="279806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to +0.7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27980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255264"/>
            <a:ext cx="201168" cy="292608"/>
          </a:xfrm>
          <a:prstGeom prst="rect">
            <a:avLst/>
          </a:prstGeom>
          <a:solidFill>
            <a:srgbClr val="6C70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" y="3273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to +0.4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273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Negligible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84048" y="3730752"/>
            <a:ext cx="201168" cy="29260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76656" y="3749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 to -0.7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4206240"/>
            <a:ext cx="201168" cy="29260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76656" y="4224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 to -1.0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42245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270492"/>
            <a:ext cx="4114800" cy="347472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18888" y="1481328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PRODUCED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18888" y="1828800"/>
            <a:ext cx="54864" cy="34747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65192" y="1847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Heatmap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65192" y="2066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correlations · lower triangle masked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18888" y="2395728"/>
            <a:ext cx="54864" cy="347472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65192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Heatmap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65192" y="26334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Rank-based · robust to skew and outliers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18888" y="2962656"/>
            <a:ext cx="54864" cy="34747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65192" y="298094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15 Pairs Chart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5192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bar chart with ±0.85 threshold lines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18888" y="3529584"/>
            <a:ext cx="54864" cy="34747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65192" y="3547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65192" y="37673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with |r| &gt; 0.85 flagged for modelling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18888" y="4096512"/>
            <a:ext cx="54864" cy="34747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65192" y="4114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Correlations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65192" y="4334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ranked by correlation with final_price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71683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 — use findings to generate hypotheses, not to confirm them.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5499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13: Correlation Analysis  |  Pearson + Spearman + Multicollinearity  |  Vamsi_EDA_NHIS_Project_3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17: 3-Variable Interaction Heatmaps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patterns invisible in pairwise analysis — where one variable changes another relationship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8595360" cy="1051560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502920" cy="105156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764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14904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× Discount × Revenue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783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· discount_bin · final_price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20574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category-discount combination drives highest avg revenue?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651760" cy="868680"/>
          </a:xfrm>
          <a:prstGeom prst="rect">
            <a:avLst/>
          </a:prstGeom>
          <a:solidFill>
            <a:srgbClr val="243447"/>
          </a:solidFill>
          <a:ln w="635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× Column × Cell colour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 = highest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8595360" cy="105156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502920" cy="105156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29535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26791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× Age Group ×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9718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customer_segment · age_group · final_price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6112" y="3246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segment-age pairing has the highest basket value?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2697480"/>
            <a:ext cx="2651760" cy="868680"/>
          </a:xfrm>
          <a:prstGeom prst="rect">
            <a:avLst/>
          </a:prstGeom>
          <a:solidFill>
            <a:srgbClr val="243447"/>
          </a:solidFill>
          <a:ln w="635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26480" y="278892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× Column × Cell colour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 = highest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794760"/>
            <a:ext cx="502920" cy="105156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41422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96112" y="38679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× Delivery × Return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112" y="41605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shipping_type · delivery_days · return_status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96112" y="4434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slower delivery increase return rates by shipping type?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3886200"/>
            <a:ext cx="2651760" cy="868680"/>
          </a:xfrm>
          <a:prstGeom prst="rect">
            <a:avLst/>
          </a:prstGeom>
          <a:solidFill>
            <a:srgbClr val="243447"/>
          </a:solidFill>
          <a:ln w="635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26480" y="397764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× Column × Cell colour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Darkest cell = highest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aggregation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patterns visible here are hypotheses — confirm with two-way ANOVA or regression interaction terms.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17: Multivariate Analysis  |  3-variable pivot heatmaps  |  Vamsi_EDA_NHIS_Project_3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18: Business Performance Metrics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KPIs across Revenue · Operations · Customer · Pricing — colour-coded health badges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sum(final_price)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across all transactions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42032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42032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mean(final_price)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42032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transaction benchmark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18304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18304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count(order_id)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18304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transactions processed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1444752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94576" y="1499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94576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nunique(customer_id)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94576" y="20391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 base size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mean(returned) × 100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returned — quality signal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50592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542032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 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42032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mean(discount_percentage)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42032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reduction given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26864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8304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18304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mean(delivery_days)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18304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speed benchmark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803136" y="2615184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894576" y="26700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Revenue Month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94576" y="29535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groupby(month).sum.idxmax()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94576" y="320954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Highest-performing calendar month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5760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Category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groupby(category).sum.idxmax()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65760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product line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50592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42032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Segment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42032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groupby(segment).sum.idxmax()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542032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valuable customer group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26864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18304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 by Revenue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18304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groupby(city).sum.idxmax()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18304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geographic market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03136" y="3785616"/>
            <a:ext cx="2011680" cy="1005840"/>
          </a:xfrm>
          <a:prstGeom prst="rect">
            <a:avLst/>
          </a:prstGeom>
          <a:solidFill>
            <a:srgbClr val="1B2A3B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894576" y="38404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(Monthly)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94576" y="41239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growth rate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94576" y="437997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direction — growth or decline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18: KPI Summary Dashboard  |  12 metrics · health-coded  |  Vamsi_EDA_NHIS_Project_3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INSIGHTS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19: 16 Data-Backed Business Statements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grounded in computed values · Source cited · Business significance stated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685800" cy="1828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2608" y="142646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142646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revenue with AOV and median — right-skew confirmed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4320" y="1636776"/>
            <a:ext cx="685800" cy="1828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2608" y="1645920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51560" y="16459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identified with % above monthly average — seasonality confirmed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74320" y="1856232"/>
            <a:ext cx="685800" cy="18288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92608" y="1865376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18653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has highest AOV — % gap over lowest segment quantified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74320" y="2075688"/>
            <a:ext cx="685800" cy="18288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084832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51560" y="208483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segment contributes X% of total revenue — concentration risk identified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74320" y="2295144"/>
            <a:ext cx="685800" cy="18288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92608" y="2304288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51560" y="230428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with highest basket value identified — demographic targeting justified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685800" cy="18288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92608" y="252374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1560" y="25237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category with % share — category management priority established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4320" y="2734056"/>
            <a:ext cx="685800" cy="18288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92608" y="2743200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51560" y="27432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AOV category differs from highest revenue category — premium pricing viable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74320" y="2953512"/>
            <a:ext cx="685800" cy="18288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2962656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51560" y="296265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band with highest avg final price identified — discount architecture reviewed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74320" y="3172968"/>
            <a:ext cx="685800" cy="18288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3182112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051560" y="318211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between discount% and final_price — significant correlation direction confirmed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74320" y="3392424"/>
            <a:ext cx="685800" cy="1828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92608" y="3401568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51560" y="340156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vs 8–12% industry benchmark — within/above range stated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74320" y="3611880"/>
            <a:ext cx="685800" cy="1828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92608" y="362102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051560" y="362102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Highest-return shipping type identified — fulfilment quality gap flagged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274320" y="3831336"/>
            <a:ext cx="685800" cy="1828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92608" y="3840480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51560" y="38404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Highest-return product category identified — product quality audit recommended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74320" y="4050792"/>
            <a:ext cx="685800" cy="1828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92608" y="4059936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51560" y="405993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 + % orders meeting 3-day benchmark — logistics KPI established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74320" y="4270248"/>
            <a:ext cx="685800" cy="1828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92608" y="4279392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51560" y="427939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city by revenue with % share — geographic concentration measured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74320" y="4489704"/>
            <a:ext cx="685800" cy="1828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92608" y="4498848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051560" y="44988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 + top 3 states' combined revenue share — market concentration risk flagged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274320" y="4709160"/>
            <a:ext cx="685800" cy="182880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92608" y="4718304"/>
            <a:ext cx="6492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051560" y="471830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direction + Pearson r + p-value for key pair — significance confirmed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274320" y="484164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insights grounded in actual computed values. No placeholders. No causality claims. Descriptive analysis only.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489503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19: Verified Insight Generator  |  16 insights · 8 categories  |  Vamsi_EDA_NHIS_Project_3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7209B7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20–21: Findings &amp; Analytical Roadmap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conclusion template · Advanced analytics roadmap for deeper investigation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624328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624328" cy="30175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1444752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801368"/>
            <a:ext cx="2404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segment/age group spends the most?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16 group means · Cell 17 heatmap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72968" y="1417320"/>
            <a:ext cx="2624328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172968" y="1417320"/>
            <a:ext cx="2624328" cy="3017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82696" y="1444752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82696" y="1801368"/>
            <a:ext cx="2404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category/month/city drives revenue?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14 trend · Cell 18 KPI dashboard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417320"/>
            <a:ext cx="2624328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24328" cy="301752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81344" y="1444752"/>
            <a:ext cx="240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Performance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81344" y="1801368"/>
            <a:ext cx="2404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return rate · Delivery benchmark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17 heatmap · Cell 18 ops KPIs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4114800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14800" cy="301752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18211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Strategy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4048" y="3538728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discount % improve or hurt revenue?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Cite: Cell 15 Pearson r · Cell 17 discount heatmap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154680"/>
            <a:ext cx="4114800" cy="1572768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709160" y="3154680"/>
            <a:ext cx="4114800" cy="30175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18888" y="318211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18888" y="3538728"/>
            <a:ext cx="389534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prioritised actions · Each traceable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specific cell finding and computed value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434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Hypothesis Testing (t-test · ANOVA · Chi-Square)   ·   Cohort Analysis — retention heatmap   ·   RFM Segmentation — Champions / At Risk / Lost   ·   Trend Decomposition — seasonal vs growth   ·   Power BI / Tableau Dashboard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65760" y="137160"/>
            <a:ext cx="1828800" cy="2560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84048" y="137160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Notebook Strong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cells · 20 code · 23 markdown · 5,970+ lines · Fully standardised · NHIS-ready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73152" cy="74980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8308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 DATA_PATH · try/except NameError guards · No hardcoded paths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73152" cy="749808"/>
          </a:xfrm>
          <a:prstGeom prst="rect">
            <a:avLst/>
          </a:prstGeom>
          <a:solidFill>
            <a:srgbClr val="7209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10328" y="149047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0328" y="178308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col in df.columns before every computation · Silent failures impossible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73152" cy="74980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23591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Consistency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265176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PALETTE · BG_COLOR · add_caption() across 40+ plots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286000"/>
            <a:ext cx="73152" cy="749808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23591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Insights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65176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statements grounded in computed values — no placeholders or templates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15468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73152" cy="7498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" y="32278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Honest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352044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· Pearson r · p-values cited · Correlation ≠ causation stated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9160" y="315468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09160" y="3154680"/>
            <a:ext cx="73152" cy="74980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10328" y="322783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Language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0328" y="352044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has plain-English caption · KPIs in ₹M · rates in 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73152" cy="7498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" y="40965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Headers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438912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╔══╗ box header on all 20 code cells · ── Step N ── separators throughout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4023360"/>
            <a:ext cx="4114800" cy="749808"/>
          </a:xfrm>
          <a:prstGeom prst="rect">
            <a:avLst/>
          </a:prstGeom>
          <a:solidFill>
            <a:srgbClr val="1B2A3B"/>
          </a:solidFill>
          <a:ln w="12700">
            <a:solidFill>
              <a:srgbClr val="F9E2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09160" y="4023360"/>
            <a:ext cx="73152" cy="749808"/>
          </a:xfrm>
          <a:prstGeom prst="rect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910328" y="409651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Portfolio-Ready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0328" y="4389120"/>
            <a:ext cx="382219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dark HTML panels · Structured for interview and classroom use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Vamsi_EDA_NHIS_Project_3.ipynb  |  43 cells · Python 3.12  |  NHIS Project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736592"/>
            <a:ext cx="9144000" cy="18288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0" y="1508760"/>
            <a:ext cx="9144000" cy="27432"/>
          </a:xfrm>
          <a:prstGeom prst="rect">
            <a:avLst/>
          </a:prstGeom>
          <a:solidFill>
            <a:srgbClr val="4361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Vamsi_EDA_NHIS_Project_3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Exploratory Data Analysis on Retail Large Dataset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Cells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7452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7209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92024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20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5,970+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2024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Lines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9184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3756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Sections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17220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17220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43800" y="2697480"/>
            <a:ext cx="1234440" cy="822960"/>
          </a:xfrm>
          <a:prstGeom prst="rect">
            <a:avLst/>
          </a:prstGeom>
          <a:solidFill>
            <a:srgbClr val="1B2A3B"/>
          </a:solidFill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589520" y="274320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89520" y="31546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Analysed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1B2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38221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Vamsi Krishna Kopparaju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DD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NHIS Project Internship Programme  ·  Python Programming Course  ·  Project 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9884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Vamsi_EDA_NHIS_Project_3.ipynb  ·  retail_large_dataset.csv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2333</Words>
  <Application>Microsoft Office PowerPoint</Application>
  <PresentationFormat>On-screen Show (16:9)</PresentationFormat>
  <Paragraphs>417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Vamsi_EDA_NHIS_Project_3</dc:title>
  <dc:subject>PptxGenJS Presentation</dc:subject>
  <dc:creator>Dr. Vamsi Krishna Kopparaju</dc:creator>
  <cp:lastModifiedBy>manoj kumar</cp:lastModifiedBy>
  <cp:revision>2</cp:revision>
  <dcterms:created xsi:type="dcterms:W3CDTF">2026-03-20T09:47:45Z</dcterms:created>
  <dcterms:modified xsi:type="dcterms:W3CDTF">2026-03-20T10:02:51Z</dcterms:modified>
</cp:coreProperties>
</file>